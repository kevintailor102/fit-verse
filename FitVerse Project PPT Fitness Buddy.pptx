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2" r:id="rId7"/>
    <p:sldId id="263" r:id="rId8"/>
    <p:sldId id="264" r:id="rId9"/>
    <p:sldId id="266" r:id="rId10"/>
    <p:sldId id="272" r:id="rId11"/>
    <p:sldId id="276" r:id="rId12"/>
    <p:sldId id="273" r:id="rId13"/>
    <p:sldId id="274" r:id="rId14"/>
    <p:sldId id="275" r:id="rId15"/>
    <p:sldId id="27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jdRRVcCRk+NF6Smm45wv6YGmJW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07EBD2-60D2-443F-B4EA-1718534645B9}">
  <a:tblStyle styleId="{FC07EBD2-60D2-443F-B4EA-1718534645B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fit-verse.onrender.com/" TargetMode="External"/><Relationship Id="rId2" Type="http://schemas.openxmlformats.org/officeDocument/2006/relationships/hyperlink" Target="https://github.com/KevinTailor102/Fit-Verse.git"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9395000" cy="2167125"/>
        </p:xfrm>
        <a:graphic>
          <a:graphicData uri="http://schemas.openxmlformats.org/drawingml/2006/table">
            <a:tbl>
              <a:tblPr>
                <a:noFill/>
                <a:tableStyleId>{FC07EBD2-60D2-443F-B4EA-1718534645B9}</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a:t>KEVIN J. TAILOR</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a:t>kevintailor983@gmail.com</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a:t>+91 8141528111</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7" name="Google Shape;87;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Domain of  Project – Healthcare </a:t>
            </a:r>
            <a:endParaRPr sz="2400" b="1" i="0" u="none" strike="noStrike" cap="none">
              <a:solidFill>
                <a:srgbClr val="000000"/>
              </a:solidFill>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Project Tile – </a:t>
            </a:r>
            <a:r>
              <a:rPr lang="en-US" sz="2400" b="1"/>
              <a:t>Fitness Buddy (FitVerse)</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35A0F78-80F2-2AE6-926F-EE991956BBC2}"/>
              </a:ext>
            </a:extLst>
          </p:cNvPr>
          <p:cNvPicPr>
            <a:picLocks noChangeAspect="1"/>
          </p:cNvPicPr>
          <p:nvPr/>
        </p:nvPicPr>
        <p:blipFill>
          <a:blip r:embed="rId3"/>
          <a:stretch>
            <a:fillRect/>
          </a:stretch>
        </p:blipFill>
        <p:spPr>
          <a:xfrm>
            <a:off x="4003040" y="3556000"/>
            <a:ext cx="1097280" cy="12114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0607040" cy="5201384"/>
          </a:xfrm>
          <a:prstGeom prst="rect">
            <a:avLst/>
          </a:prstGeom>
          <a:noFill/>
          <a:ln>
            <a:noFill/>
          </a:ln>
        </p:spPr>
        <p:txBody>
          <a:bodyPr spcFirstLastPara="1" wrap="square" lIns="91425" tIns="45700" rIns="91425" bIns="45700" anchor="t" anchorCtr="0">
            <a:spAutoFit/>
          </a:bodyPr>
          <a:lstStyle/>
          <a:p>
            <a:r>
              <a:rPr lang="en-US" sz="1600" b="1" dirty="0"/>
              <a:t>The Challenge:-</a:t>
            </a:r>
          </a:p>
          <a:p>
            <a:endParaRPr lang="en-US" sz="1600" b="1" dirty="0"/>
          </a:p>
          <a:p>
            <a:r>
              <a:rPr lang="en-US" sz="1600" dirty="0"/>
              <a:t>In today's fast-paced world, maintaining a healthy lifestyle has become increasingly difficult due to busy schedules, lack of personalized guidance, and inconsistent motivation. Many people struggle to follow effective workout routines, make healthy food choices, and build sustainable fitness habits. Traditional fitness solutions often rely on expensive gym memberships, personal trainers, or rigid programs that fail to adapt to individual goals, fitness levels, and daily routines.</a:t>
            </a:r>
          </a:p>
          <a:p>
            <a:endParaRPr lang="en-US" sz="1600" dirty="0"/>
          </a:p>
          <a:p>
            <a:r>
              <a:rPr lang="en-US" sz="1600" dirty="0"/>
              <a:t>As a result, there is a growing need for an intelligent, accessible, and user-friendly virtual fitness assistant that provides personalized guidance anytime and anywhere. Such a solution should offer real-time workout recommendations, nutrition advice, and continuous motivation while adapting to each user's unique needs and preferences.</a:t>
            </a:r>
          </a:p>
          <a:p>
            <a:endParaRPr lang="en-US" sz="1600" dirty="0"/>
          </a:p>
          <a:p>
            <a:r>
              <a:rPr lang="en-US" sz="1600" b="1" dirty="0" err="1"/>
              <a:t>FitVerse</a:t>
            </a:r>
            <a:r>
              <a:rPr lang="en-US" sz="1600" dirty="0"/>
              <a:t> addresses this challenge by providing an AI-powered conversational fitness and wellness coach that can:</a:t>
            </a:r>
          </a:p>
          <a:p>
            <a:pPr marL="285750" indent="-285750">
              <a:buFont typeface="Arial" panose="020B0604020202020204" pitchFamily="34" charset="0"/>
              <a:buChar char="•"/>
            </a:pPr>
            <a:r>
              <a:rPr lang="en-US" sz="1600" dirty="0"/>
              <a:t>Generate personalized home workout plans based on user goals, fitness level, and available time. </a:t>
            </a:r>
          </a:p>
          <a:p>
            <a:pPr marL="285750" indent="-285750">
              <a:buFont typeface="Arial" panose="020B0604020202020204" pitchFamily="34" charset="0"/>
              <a:buChar char="•"/>
            </a:pPr>
            <a:r>
              <a:rPr lang="en-US" sz="1600" dirty="0"/>
              <a:t>Provide daily motivation, fitness tips, and habit-building guidance to encourage long-term consistency. </a:t>
            </a:r>
          </a:p>
          <a:p>
            <a:pPr marL="285750" indent="-285750">
              <a:buFont typeface="Arial" panose="020B0604020202020204" pitchFamily="34" charset="0"/>
              <a:buChar char="•"/>
            </a:pPr>
            <a:r>
              <a:rPr lang="en-US" sz="1600" dirty="0"/>
              <a:t>Recommend simple, nutritious meal ideas and healthy lifestyle suggestions. </a:t>
            </a:r>
          </a:p>
          <a:p>
            <a:pPr marL="285750" indent="-285750">
              <a:buFont typeface="Arial" panose="020B0604020202020204" pitchFamily="34" charset="0"/>
              <a:buChar char="•"/>
            </a:pPr>
            <a:r>
              <a:rPr lang="en-US" sz="1600" dirty="0"/>
              <a:t>Answer fitness-related questions with safe, practical, and easy-to-understand advice. </a:t>
            </a:r>
          </a:p>
          <a:p>
            <a:pPr marL="285750" indent="-285750">
              <a:buFont typeface="Arial" panose="020B0604020202020204" pitchFamily="34" charset="0"/>
              <a:buChar char="•"/>
            </a:pPr>
            <a:r>
              <a:rPr lang="en-US" sz="1600" dirty="0"/>
              <a:t>Promote healthier living through personalized, AI-driven coaching available 24/7.</a:t>
            </a: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24"/>
          </a:xfrm>
          <a:prstGeom prst="rect">
            <a:avLst/>
          </a:prstGeom>
          <a:noFill/>
          <a:ln>
            <a:noFill/>
          </a:ln>
        </p:spPr>
        <p:txBody>
          <a:bodyPr spcFirstLastPara="1" wrap="square" lIns="91425" tIns="45700" rIns="91425" bIns="45700" anchor="t" anchorCtr="0">
            <a:spAutoFit/>
          </a:bodyPr>
          <a:lstStyle/>
          <a:p>
            <a:pPr>
              <a:buSzPts val="2400"/>
            </a:pPr>
            <a:r>
              <a:rPr lang="en-US" sz="2400" b="1" i="0" u="none" strike="noStrike" cap="none" dirty="0">
                <a:solidFill>
                  <a:srgbClr val="000000"/>
                </a:solidFill>
                <a:latin typeface="Arial"/>
                <a:ea typeface="Arial"/>
                <a:cs typeface="Arial"/>
                <a:sym typeface="Arial"/>
              </a:rPr>
              <a:t>Problem Statement -</a:t>
            </a:r>
            <a:r>
              <a:rPr lang="en-US" sz="2400" b="1" dirty="0"/>
              <a:t>Fitness Buddy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455468" y="1168656"/>
            <a:ext cx="10607040" cy="5170606"/>
          </a:xfrm>
          <a:prstGeom prst="rect">
            <a:avLst/>
          </a:prstGeom>
          <a:noFill/>
          <a:ln>
            <a:noFill/>
          </a:ln>
        </p:spPr>
        <p:txBody>
          <a:bodyPr spcFirstLastPara="1" wrap="square" lIns="91425" tIns="45700" rIns="91425" bIns="45700" anchor="t" anchorCtr="0">
            <a:spAutoFit/>
          </a:bodyPr>
          <a:lstStyle/>
          <a:p>
            <a:endParaRPr lang="en-US" b="1" dirty="0"/>
          </a:p>
          <a:p>
            <a:r>
              <a:rPr lang="en-US" sz="1600" dirty="0"/>
              <a:t>The proposed solution is </a:t>
            </a:r>
            <a:r>
              <a:rPr lang="en-US" sz="1600" b="1" dirty="0" err="1"/>
              <a:t>FitVerse</a:t>
            </a:r>
            <a:r>
              <a:rPr lang="en-US" sz="1600" dirty="0"/>
              <a:t>, an AI-powered Fitness and Wellness Agent built using </a:t>
            </a:r>
            <a:r>
              <a:rPr lang="en-US" sz="1600" b="1" dirty="0"/>
              <a:t>IBM watsonx.ai Granite Models</a:t>
            </a:r>
            <a:r>
              <a:rPr lang="en-US" sz="1600" dirty="0"/>
              <a:t>, </a:t>
            </a:r>
            <a:r>
              <a:rPr lang="en-US" sz="1600" b="1" dirty="0"/>
              <a:t>Python Flask</a:t>
            </a:r>
            <a:r>
              <a:rPr lang="en-US" sz="1600" dirty="0"/>
              <a:t>, and </a:t>
            </a:r>
            <a:r>
              <a:rPr lang="en-US" sz="1600" b="1" dirty="0"/>
              <a:t>IBM Cloud Lite Services</a:t>
            </a:r>
            <a:r>
              <a:rPr lang="en-US" sz="1600" dirty="0"/>
              <a:t> to provide personalized fitness guidance and healthy lifestyle recommendations. The platform offers an intelligent conversational interface that delivers real-time workout plans, nutrition advice, and wellness support based on user goals and preferences.</a:t>
            </a:r>
          </a:p>
          <a:p>
            <a:r>
              <a:rPr lang="en-US" sz="1600" dirty="0"/>
              <a:t>The solution consists of four key AI agents:</a:t>
            </a:r>
          </a:p>
          <a:p>
            <a:pPr marL="285750" indent="-285750">
              <a:buFont typeface="Arial" panose="020B0604020202020204" pitchFamily="34" charset="0"/>
              <a:buChar char="•"/>
            </a:pPr>
            <a:r>
              <a:rPr lang="en-US" sz="1600" b="1" dirty="0"/>
              <a:t>Workout Planning Agent</a:t>
            </a:r>
            <a:r>
              <a:rPr lang="en-US" sz="1600" dirty="0"/>
              <a:t> generates personalized home or gym workout routines based on fitness goals, experience level, available time, and equipment.</a:t>
            </a:r>
          </a:p>
          <a:p>
            <a:pPr marL="285750" indent="-285750">
              <a:buFont typeface="Arial" panose="020B0604020202020204" pitchFamily="34" charset="0"/>
              <a:buChar char="•"/>
            </a:pPr>
            <a:r>
              <a:rPr lang="en-US" sz="1600" b="1" dirty="0"/>
              <a:t>Nutrition Guidance Agent</a:t>
            </a:r>
            <a:r>
              <a:rPr lang="en-US" sz="1600" dirty="0"/>
              <a:t> recommends balanced meal plans, calorie intake, hydration goals, and healthy food suggestions tailored to user preferences.</a:t>
            </a:r>
          </a:p>
          <a:p>
            <a:pPr marL="285750" indent="-285750">
              <a:buFont typeface="Arial" panose="020B0604020202020204" pitchFamily="34" charset="0"/>
              <a:buChar char="•"/>
            </a:pPr>
            <a:r>
              <a:rPr lang="en-US" sz="1600" b="1" dirty="0"/>
              <a:t>Motivation &amp; Habit Agent</a:t>
            </a:r>
            <a:r>
              <a:rPr lang="en-US" sz="1600" dirty="0"/>
              <a:t> provides daily motivation, fitness challenges, and habit-building tips to encourage long-term consistency.</a:t>
            </a:r>
          </a:p>
          <a:p>
            <a:pPr marL="285750" indent="-285750">
              <a:buFont typeface="Arial" panose="020B0604020202020204" pitchFamily="34" charset="0"/>
              <a:buChar char="•"/>
            </a:pPr>
            <a:r>
              <a:rPr lang="en-US" sz="1600" b="1" dirty="0"/>
              <a:t>Health Advisory Agent</a:t>
            </a:r>
            <a:r>
              <a:rPr lang="en-US" sz="1600" dirty="0"/>
              <a:t> offers safe exercise guidance, recovery tips, stretching routines, and general wellness recommendations with appropriate medical disclaimers.</a:t>
            </a:r>
          </a:p>
          <a:p>
            <a:r>
              <a:rPr lang="en-US" sz="1600" dirty="0"/>
              <a:t>The platform also includes interactive tools such as </a:t>
            </a:r>
            <a:r>
              <a:rPr lang="en-US" sz="1600" b="1" dirty="0"/>
              <a:t>BMI Calculator</a:t>
            </a:r>
            <a:r>
              <a:rPr lang="en-US" sz="1600" dirty="0"/>
              <a:t>, </a:t>
            </a:r>
            <a:r>
              <a:rPr lang="en-US" sz="1600" b="1" dirty="0"/>
              <a:t>BMR Calculator</a:t>
            </a:r>
            <a:r>
              <a:rPr lang="en-US" sz="1600" dirty="0"/>
              <a:t>, </a:t>
            </a:r>
            <a:r>
              <a:rPr lang="en-US" sz="1600" b="1" dirty="0"/>
              <a:t>Calorie Calculator</a:t>
            </a:r>
            <a:r>
              <a:rPr lang="en-US" sz="1600" dirty="0"/>
              <a:t>, and </a:t>
            </a:r>
            <a:r>
              <a:rPr lang="en-US" sz="1600" b="1" dirty="0"/>
              <a:t>Water Intake Calculator</a:t>
            </a:r>
            <a:r>
              <a:rPr lang="en-US" sz="1600" dirty="0"/>
              <a:t>, along with a responsive dashboard that displays AI-generated workout plans, nutrition insights, health metrics, and daily fitness recommendations.</a:t>
            </a:r>
          </a:p>
          <a:p>
            <a:r>
              <a:rPr lang="en-US" sz="1600" dirty="0"/>
              <a:t>Powered by </a:t>
            </a:r>
            <a:r>
              <a:rPr lang="en-US" sz="1600" b="1" dirty="0"/>
              <a:t>IBM watsonx.ai Granite Models</a:t>
            </a:r>
            <a:r>
              <a:rPr lang="en-US" sz="1600" dirty="0"/>
              <a:t>, </a:t>
            </a:r>
            <a:r>
              <a:rPr lang="en-US" sz="1600" dirty="0" err="1"/>
              <a:t>FitVerse</a:t>
            </a:r>
            <a:r>
              <a:rPr lang="en-US" sz="1600" dirty="0"/>
              <a:t> delivers an intelligent, personalized, and accessible fitness coaching experience, helping users build healthier habits and achieve their long-term wellness goals.</a:t>
            </a: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24"/>
          </a:xfrm>
          <a:prstGeom prst="rect">
            <a:avLst/>
          </a:prstGeom>
          <a:noFill/>
          <a:ln>
            <a:noFill/>
          </a:ln>
        </p:spPr>
        <p:txBody>
          <a:bodyPr spcFirstLastPara="1" wrap="square" lIns="91425" tIns="45700" rIns="91425" bIns="45700" anchor="t" anchorCtr="0">
            <a:spAutoFit/>
          </a:bodyPr>
          <a:lstStyle/>
          <a:p>
            <a:pPr lvl="0">
              <a:buSzPts val="1400"/>
            </a:pPr>
            <a:r>
              <a:rPr lang="en-US" sz="2400" b="1"/>
              <a:t>Proposed Solution: AI-Powered Fitness Agent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777240" y="1207008"/>
            <a:ext cx="10515600" cy="5016718"/>
          </a:xfrm>
          <a:prstGeom prst="rect">
            <a:avLst/>
          </a:prstGeom>
          <a:noFill/>
          <a:ln>
            <a:noFill/>
          </a:ln>
        </p:spPr>
        <p:txBody>
          <a:bodyPr spcFirstLastPara="1" wrap="square" lIns="91425" tIns="45700" rIns="91425" bIns="45700" anchor="t" anchorCtr="0">
            <a:spAutoFit/>
          </a:bodyPr>
          <a:lstStyle/>
          <a:p>
            <a:endParaRPr lang="en-US" sz="1600" b="1" dirty="0"/>
          </a:p>
          <a:p>
            <a:pPr marL="285750" indent="-285750">
              <a:buFont typeface="Arial" panose="020B0604020202020204" pitchFamily="34" charset="0"/>
              <a:buChar char="•"/>
            </a:pPr>
            <a:r>
              <a:rPr lang="en-US" sz="1600" b="1" dirty="0"/>
              <a:t>IBM watsonx.ai Granite Model</a:t>
            </a:r>
            <a:r>
              <a:rPr lang="en-US" sz="1600" dirty="0"/>
              <a:t> – Powers conversational AI, personalized workout generation, nutrition guidance, and fitness recommendations.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IBM Cloud Lite Services</a:t>
            </a:r>
            <a:r>
              <a:rPr lang="en-US" sz="1600" dirty="0"/>
              <a:t> – Provides a secure, reliable, and scalable cloud platform for deploying the application.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Python Flask</a:t>
            </a:r>
            <a:r>
              <a:rPr lang="en-US" sz="1600" dirty="0"/>
              <a:t> – Backend framework for application logic, AI integration, and API management.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Bootstrap 5</a:t>
            </a:r>
            <a:r>
              <a:rPr lang="en-US" sz="1600" dirty="0"/>
              <a:t> – Builds a modern, responsive, and user-friendly interface.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HTML, CSS &amp; JavaScript</a:t>
            </a:r>
            <a:r>
              <a:rPr lang="en-US" sz="1600" dirty="0"/>
              <a:t> – Create an interactive and dynamic frontend experience.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Chart.js</a:t>
            </a:r>
            <a:r>
              <a:rPr lang="en-US" sz="1600" dirty="0"/>
              <a:t> – Visualizes BMI, calorie estimates, hydration goals, and fitness insights using interactive charts.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Python </a:t>
            </a:r>
            <a:r>
              <a:rPr lang="en-US" sz="1600" b="1" dirty="0" err="1"/>
              <a:t>Dotenv</a:t>
            </a:r>
            <a:r>
              <a:rPr lang="en-US" sz="1600" b="1" dirty="0"/>
              <a:t> (.env)</a:t>
            </a:r>
            <a:r>
              <a:rPr lang="en-US" sz="1600" dirty="0"/>
              <a:t> – Securely manages IBM Cloud API keys and environment variables. </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solidFill>
                  <a:schemeClr val="dk1"/>
                </a:solidFill>
                <a:latin typeface="Calibri"/>
                <a:ea typeface="Calibri"/>
                <a:cs typeface="Calibri"/>
                <a:sym typeface="Calibri"/>
              </a:rPr>
              <a:t>Architecture</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39AB1920-4C25-53D6-0816-2D8513D65E98}"/>
              </a:ext>
            </a:extLst>
          </p:cNvPr>
          <p:cNvPicPr>
            <a:picLocks noChangeAspect="1"/>
          </p:cNvPicPr>
          <p:nvPr/>
        </p:nvPicPr>
        <p:blipFill>
          <a:blip r:embed="rId3"/>
          <a:stretch>
            <a:fillRect/>
          </a:stretch>
        </p:blipFill>
        <p:spPr>
          <a:xfrm>
            <a:off x="322872" y="771748"/>
            <a:ext cx="11546255" cy="59338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Calibri"/>
                <a:ea typeface="Calibri"/>
                <a:cs typeface="Calibri"/>
                <a:sym typeface="Calibri"/>
              </a:rPr>
              <a:t>Architecture/Workflow </a:t>
            </a:r>
            <a:r>
              <a:rPr lang="en-US" sz="2400" b="1" dirty="0">
                <a:solidFill>
                  <a:schemeClr val="dk1"/>
                </a:solidFill>
                <a:latin typeface="Calibri"/>
                <a:ea typeface="Calibri"/>
                <a:cs typeface="Calibri"/>
                <a:sym typeface="Calibri"/>
              </a:rPr>
              <a:t>B</a:t>
            </a:r>
            <a:r>
              <a:rPr lang="en-US" sz="2400" b="1" i="0" u="none" strike="noStrike" cap="none" dirty="0">
                <a:solidFill>
                  <a:schemeClr val="dk1"/>
                </a:solidFill>
                <a:latin typeface="Calibri"/>
                <a:ea typeface="Calibri"/>
                <a:cs typeface="Calibri"/>
                <a:sym typeface="Calibri"/>
              </a:rPr>
              <a:t>lueprint</a:t>
            </a: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6A9BF402-F10E-1C6F-D23A-25263762E26C}"/>
              </a:ext>
            </a:extLst>
          </p:cNvPr>
          <p:cNvPicPr>
            <a:picLocks noChangeAspect="1"/>
          </p:cNvPicPr>
          <p:nvPr/>
        </p:nvPicPr>
        <p:blipFill>
          <a:blip r:embed="rId3"/>
          <a:stretch>
            <a:fillRect/>
          </a:stretch>
        </p:blipFill>
        <p:spPr>
          <a:xfrm>
            <a:off x="952500" y="771746"/>
            <a:ext cx="10287000" cy="60862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50321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latin typeface="Arial"/>
                <a:ea typeface="Arial"/>
                <a:cs typeface="Arial"/>
                <a:sym typeface="Arial"/>
              </a:rPr>
              <a:t>Role of Agentic AI in </a:t>
            </a:r>
            <a:r>
              <a:rPr lang="en-US" sz="1800" b="1" dirty="0"/>
              <a:t>Fitness</a:t>
            </a:r>
            <a:r>
              <a:rPr lang="en-US" sz="1800" b="1" i="0" u="none" strike="noStrike" cap="none" dirty="0">
                <a:solidFill>
                  <a:srgbClr val="000000"/>
                </a:solidFill>
                <a:latin typeface="Arial"/>
                <a:ea typeface="Arial"/>
                <a:cs typeface="Arial"/>
                <a:sym typeface="Arial"/>
              </a:rPr>
              <a:t> Agent</a:t>
            </a:r>
            <a:r>
              <a:rPr lang="en-US" sz="1800" b="1" dirty="0"/>
              <a:t>:-</a:t>
            </a:r>
          </a:p>
          <a:p>
            <a:pPr marL="0" marR="0" lvl="0" indent="0" algn="l" rtl="0">
              <a:lnSpc>
                <a:spcPct val="100000"/>
              </a:lnSpc>
              <a:spcBef>
                <a:spcPts val="0"/>
              </a:spcBef>
              <a:spcAft>
                <a:spcPts val="0"/>
              </a:spcAft>
              <a:buClr>
                <a:srgbClr val="000000"/>
              </a:buClr>
              <a:buSzPts val="1400"/>
              <a:buFont typeface="Arial"/>
              <a:buNone/>
            </a:pPr>
            <a:endParaRPr sz="1800" b="0" i="0" u="none" strike="noStrike" cap="none" dirty="0">
              <a:solidFill>
                <a:srgbClr val="000000"/>
              </a:solidFill>
              <a:latin typeface="Arial"/>
              <a:ea typeface="Arial"/>
              <a:cs typeface="Arial"/>
              <a:sym typeface="Arial"/>
            </a:endParaRPr>
          </a:p>
          <a:p>
            <a:r>
              <a:rPr lang="en-US" sz="1500" b="1" dirty="0" err="1"/>
              <a:t>FitVerse</a:t>
            </a:r>
            <a:r>
              <a:rPr lang="en-US" sz="1500" dirty="0"/>
              <a:t> leverages </a:t>
            </a:r>
            <a:r>
              <a:rPr lang="en-US" sz="1500" b="1" dirty="0"/>
              <a:t>Agentic AI</a:t>
            </a:r>
            <a:r>
              <a:rPr lang="en-US" sz="1500" dirty="0"/>
              <a:t> to function as an intelligent virtual fitness coach that understands user goals, reasons about their requirements, and delivers personalized recommendations. Instead of providing static responses, the AI analyzes user inputs such as fitness goals, workout preferences, dietary choices, and available time to generate customized workout plans, nutrition guidance, and motivational support.</a:t>
            </a:r>
          </a:p>
          <a:p>
            <a:r>
              <a:rPr lang="en-US" sz="1500" dirty="0"/>
              <a:t>The Agentic AI autonomously performs specialized tasks through multiple AI agents, including:</a:t>
            </a:r>
          </a:p>
          <a:p>
            <a:endParaRPr lang="en-US" sz="1500" dirty="0"/>
          </a:p>
          <a:p>
            <a:pPr marL="285750" indent="-285750">
              <a:buFont typeface="Arial" panose="020B0604020202020204" pitchFamily="34" charset="0"/>
              <a:buChar char="•"/>
            </a:pPr>
            <a:r>
              <a:rPr lang="en-US" sz="1500" b="1" dirty="0"/>
              <a:t>Workout Planning Agent</a:t>
            </a:r>
            <a:r>
              <a:rPr lang="en-US" sz="1500" dirty="0"/>
              <a:t> – Creates personalized exercise routines. </a:t>
            </a:r>
          </a:p>
          <a:p>
            <a:pPr marL="285750" indent="-285750">
              <a:buFont typeface="Arial" panose="020B0604020202020204" pitchFamily="34" charset="0"/>
              <a:buChar char="•"/>
            </a:pPr>
            <a:r>
              <a:rPr lang="en-US" sz="1500" b="1" dirty="0"/>
              <a:t>Nutrition Guidance Agent</a:t>
            </a:r>
            <a:r>
              <a:rPr lang="en-US" sz="1500" dirty="0"/>
              <a:t> – Recommends healthy meals and calorie intake. </a:t>
            </a:r>
          </a:p>
          <a:p>
            <a:pPr marL="285750" indent="-285750">
              <a:buFont typeface="Arial" panose="020B0604020202020204" pitchFamily="34" charset="0"/>
              <a:buChar char="•"/>
            </a:pPr>
            <a:r>
              <a:rPr lang="en-US" sz="1500" b="1" dirty="0"/>
              <a:t>Motivation &amp; Habit Agent</a:t>
            </a:r>
            <a:r>
              <a:rPr lang="en-US" sz="1500" dirty="0"/>
              <a:t> – Encourages consistency through daily tips and fitness challenges. </a:t>
            </a:r>
          </a:p>
          <a:p>
            <a:pPr marL="285750" indent="-285750">
              <a:buFont typeface="Arial" panose="020B0604020202020204" pitchFamily="34" charset="0"/>
              <a:buChar char="•"/>
            </a:pPr>
            <a:r>
              <a:rPr lang="en-US" sz="1500" b="1" dirty="0"/>
              <a:t>Health Advisory Agent</a:t>
            </a:r>
            <a:r>
              <a:rPr lang="en-US" sz="1500" dirty="0"/>
              <a:t> – Provides safe workout practices and general wellness recommendations. </a:t>
            </a:r>
          </a:p>
          <a:p>
            <a:endParaRPr lang="en-US" sz="1500" dirty="0"/>
          </a:p>
          <a:p>
            <a:r>
              <a:rPr lang="en-US" sz="1500" dirty="0"/>
              <a:t>By combining natural language understanding with intelligent reasoning using </a:t>
            </a:r>
            <a:r>
              <a:rPr lang="en-US" sz="1500" b="1" dirty="0"/>
              <a:t>IBM watsonx.ai Granite Models</a:t>
            </a:r>
            <a:r>
              <a:rPr lang="en-US" sz="1500" dirty="0"/>
              <a:t>, Agentic AI enables </a:t>
            </a:r>
            <a:r>
              <a:rPr lang="en-US" sz="1500" dirty="0" err="1"/>
              <a:t>FitVerse</a:t>
            </a:r>
            <a:r>
              <a:rPr lang="en-US" sz="1500" dirty="0"/>
              <a:t> to deliver real-time, context-aware, and personalized fitness coaching, making healthy living more accessible, interactive, and engaging.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7" name="Google Shape;157;p40"/>
          <p:cNvSpPr txBox="1"/>
          <p:nvPr/>
        </p:nvSpPr>
        <p:spPr>
          <a:xfrm>
            <a:off x="777240" y="1207008"/>
            <a:ext cx="11301984" cy="4739719"/>
          </a:xfrm>
          <a:prstGeom prst="rect">
            <a:avLst/>
          </a:prstGeom>
          <a:noFill/>
          <a:ln>
            <a:noFill/>
          </a:ln>
        </p:spPr>
        <p:txBody>
          <a:bodyPr spcFirstLastPara="1" wrap="square" lIns="91425" tIns="45700" rIns="91425" bIns="45700" anchor="t" anchorCtr="0">
            <a:spAutoFit/>
          </a:bodyPr>
          <a:lstStyle/>
          <a:p>
            <a:endParaRPr lang="en-US" sz="1600" dirty="0"/>
          </a:p>
          <a:p>
            <a:r>
              <a:rPr lang="en-US" sz="1600" dirty="0"/>
              <a:t>The proposed </a:t>
            </a:r>
            <a:r>
              <a:rPr lang="en-US" sz="1600" b="1" dirty="0" err="1"/>
              <a:t>FitVerse</a:t>
            </a:r>
            <a:r>
              <a:rPr lang="en-US" sz="1600" dirty="0"/>
              <a:t> stands out by combining </a:t>
            </a:r>
            <a:r>
              <a:rPr lang="en-US" sz="1600" b="1" dirty="0"/>
              <a:t>Agentic AI</a:t>
            </a:r>
            <a:r>
              <a:rPr lang="en-US" sz="1600" dirty="0"/>
              <a:t>, </a:t>
            </a:r>
            <a:r>
              <a:rPr lang="en-US" sz="1600" b="1" dirty="0"/>
              <a:t>IBM watsonx.ai Granite Models</a:t>
            </a:r>
            <a:r>
              <a:rPr lang="en-US" sz="1600" dirty="0"/>
              <a:t>, and personalized fitness coaching into a single intelligent wellness platform.</a:t>
            </a:r>
          </a:p>
          <a:p>
            <a:endParaRPr lang="en-US" sz="1600" dirty="0"/>
          </a:p>
          <a:p>
            <a:pPr marL="285750" indent="-285750">
              <a:buFont typeface="Arial" panose="020B0604020202020204" pitchFamily="34" charset="0"/>
              <a:buChar char="•"/>
            </a:pPr>
            <a:r>
              <a:rPr lang="en-US" sz="1600" b="1" dirty="0"/>
              <a:t>Multi-Agent Intelligence</a:t>
            </a:r>
            <a:r>
              <a:rPr lang="en-US" sz="1600" dirty="0"/>
              <a:t> – Specialized AI agents collaborate to provide personalized workout plans, nutrition guidance, motivation, and wellness recommendations. </a:t>
            </a:r>
          </a:p>
          <a:p>
            <a:pPr marL="285750" indent="-285750">
              <a:buFont typeface="Arial" panose="020B0604020202020204" pitchFamily="34" charset="0"/>
              <a:buChar char="•"/>
            </a:pPr>
            <a:r>
              <a:rPr lang="en-US" sz="1600" b="1" dirty="0"/>
              <a:t>Personalized Fitness Coaching</a:t>
            </a:r>
            <a:r>
              <a:rPr lang="en-US" sz="1600" dirty="0"/>
              <a:t> – Generates customized workouts and meal suggestions based on user goals, fitness level, available time, and dietary preferences. </a:t>
            </a:r>
          </a:p>
          <a:p>
            <a:pPr marL="285750" indent="-285750">
              <a:buFont typeface="Arial" panose="020B0604020202020204" pitchFamily="34" charset="0"/>
              <a:buChar char="•"/>
            </a:pPr>
            <a:r>
              <a:rPr lang="en-US" sz="1600" b="1" dirty="0"/>
              <a:t>Conversational AI Experience</a:t>
            </a:r>
            <a:r>
              <a:rPr lang="en-US" sz="1600" dirty="0"/>
              <a:t> – Enables users to interact naturally with an AI fitness coach for instant guidance and real-time recommendations. </a:t>
            </a:r>
          </a:p>
          <a:p>
            <a:pPr marL="285750" indent="-285750">
              <a:buFont typeface="Arial" panose="020B0604020202020204" pitchFamily="34" charset="0"/>
              <a:buChar char="•"/>
            </a:pPr>
            <a:r>
              <a:rPr lang="en-US" sz="1600" b="1" dirty="0"/>
              <a:t>Integrated Health Tools</a:t>
            </a:r>
            <a:r>
              <a:rPr lang="en-US" sz="1600" dirty="0"/>
              <a:t> – Combines BMI, BMR, calorie, and hydration calculators with AI-powered insights in one platform. </a:t>
            </a:r>
          </a:p>
          <a:p>
            <a:pPr marL="285750" indent="-285750">
              <a:buFont typeface="Arial" panose="020B0604020202020204" pitchFamily="34" charset="0"/>
              <a:buChar char="•"/>
            </a:pPr>
            <a:r>
              <a:rPr lang="en-US" sz="1600" b="1" dirty="0"/>
              <a:t>Motivation &amp; Habit Building</a:t>
            </a:r>
            <a:r>
              <a:rPr lang="en-US" sz="1600" dirty="0"/>
              <a:t> – Encourages long-term consistency through daily fitness tips, wellness challenges, and healthy habit recommendations. </a:t>
            </a:r>
          </a:p>
          <a:p>
            <a:pPr marL="285750" indent="-285750">
              <a:buFont typeface="Arial" panose="020B0604020202020204" pitchFamily="34" charset="0"/>
              <a:buChar char="•"/>
            </a:pPr>
            <a:r>
              <a:rPr lang="en-US" sz="1600" b="1" dirty="0"/>
              <a:t>Accessible &amp; User-Friendly</a:t>
            </a:r>
            <a:r>
              <a:rPr lang="en-US" sz="1600" dirty="0"/>
              <a:t> – No login or subscription required, allowing users to access AI-powered fitness guidance instantly from any device. </a:t>
            </a:r>
          </a:p>
          <a:p>
            <a:pPr marL="285750" indent="-285750">
              <a:buFont typeface="Arial" panose="020B0604020202020204" pitchFamily="34" charset="0"/>
              <a:buChar char="•"/>
            </a:pPr>
            <a:r>
              <a:rPr lang="en-US" sz="1600" b="1" dirty="0"/>
              <a:t>Scalable &amp; AI-Powered</a:t>
            </a:r>
            <a:r>
              <a:rPr lang="en-US" sz="1600" dirty="0"/>
              <a:t> – Built on </a:t>
            </a:r>
            <a:r>
              <a:rPr lang="en-US" sz="1600" b="1" dirty="0"/>
              <a:t>IBM watsonx.ai Granite Models</a:t>
            </a:r>
            <a:r>
              <a:rPr lang="en-US" sz="1600" dirty="0"/>
              <a:t> and </a:t>
            </a:r>
            <a:r>
              <a:rPr lang="en-US" sz="1600" b="1" dirty="0"/>
              <a:t>IBM Cloud Lite Services</a:t>
            </a:r>
            <a:r>
              <a:rPr lang="en-US" sz="1600" dirty="0"/>
              <a:t>, ensuring intelligent, reliable, and scalable performance.</a:t>
            </a: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ECB7F8-8199-24E8-14F8-808F6B8E81A5}"/>
              </a:ext>
            </a:extLst>
          </p:cNvPr>
          <p:cNvPicPr>
            <a:picLocks noChangeAspect="1"/>
          </p:cNvPicPr>
          <p:nvPr/>
        </p:nvPicPr>
        <p:blipFill>
          <a:blip r:embed="rId2"/>
          <a:stretch>
            <a:fillRect/>
          </a:stretch>
        </p:blipFill>
        <p:spPr>
          <a:xfrm>
            <a:off x="111760" y="187960"/>
            <a:ext cx="11541760" cy="6482080"/>
          </a:xfrm>
          <a:prstGeom prst="rect">
            <a:avLst/>
          </a:prstGeom>
        </p:spPr>
      </p:pic>
    </p:spTree>
    <p:extLst>
      <p:ext uri="{BB962C8B-B14F-4D97-AF65-F5344CB8AC3E}">
        <p14:creationId xmlns:p14="http://schemas.microsoft.com/office/powerpoint/2010/main" val="1434359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1B0C77-1F0A-C233-8F40-0AF72E62F6A6}"/>
              </a:ext>
            </a:extLst>
          </p:cNvPr>
          <p:cNvPicPr>
            <a:picLocks noChangeAspect="1"/>
          </p:cNvPicPr>
          <p:nvPr/>
        </p:nvPicPr>
        <p:blipFill>
          <a:blip r:embed="rId2"/>
          <a:stretch>
            <a:fillRect/>
          </a:stretch>
        </p:blipFill>
        <p:spPr>
          <a:xfrm>
            <a:off x="101600" y="213360"/>
            <a:ext cx="11541760" cy="6431280"/>
          </a:xfrm>
          <a:prstGeom prst="rect">
            <a:avLst/>
          </a:prstGeom>
        </p:spPr>
      </p:pic>
    </p:spTree>
    <p:extLst>
      <p:ext uri="{BB962C8B-B14F-4D97-AF65-F5344CB8AC3E}">
        <p14:creationId xmlns:p14="http://schemas.microsoft.com/office/powerpoint/2010/main" val="1167234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F4346F-F2D1-F24B-1060-1CBE18772D67}"/>
              </a:ext>
            </a:extLst>
          </p:cNvPr>
          <p:cNvPicPr>
            <a:picLocks noChangeAspect="1"/>
          </p:cNvPicPr>
          <p:nvPr/>
        </p:nvPicPr>
        <p:blipFill>
          <a:blip r:embed="rId2"/>
          <a:stretch>
            <a:fillRect/>
          </a:stretch>
        </p:blipFill>
        <p:spPr>
          <a:xfrm>
            <a:off x="0" y="570098"/>
            <a:ext cx="12192000" cy="5717804"/>
          </a:xfrm>
          <a:prstGeom prst="rect">
            <a:avLst/>
          </a:prstGeom>
        </p:spPr>
      </p:pic>
    </p:spTree>
    <p:extLst>
      <p:ext uri="{BB962C8B-B14F-4D97-AF65-F5344CB8AC3E}">
        <p14:creationId xmlns:p14="http://schemas.microsoft.com/office/powerpoint/2010/main" val="1586643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2E352E-07BA-9AE9-9C77-F0D1827C2C60}"/>
              </a:ext>
            </a:extLst>
          </p:cNvPr>
          <p:cNvPicPr>
            <a:picLocks noChangeAspect="1"/>
          </p:cNvPicPr>
          <p:nvPr/>
        </p:nvPicPr>
        <p:blipFill>
          <a:blip r:embed="rId2"/>
          <a:stretch>
            <a:fillRect/>
          </a:stretch>
        </p:blipFill>
        <p:spPr>
          <a:xfrm>
            <a:off x="0" y="550511"/>
            <a:ext cx="12192000" cy="5756978"/>
          </a:xfrm>
          <a:prstGeom prst="rect">
            <a:avLst/>
          </a:prstGeom>
        </p:spPr>
      </p:pic>
    </p:spTree>
    <p:extLst>
      <p:ext uri="{BB962C8B-B14F-4D97-AF65-F5344CB8AC3E}">
        <p14:creationId xmlns:p14="http://schemas.microsoft.com/office/powerpoint/2010/main" val="3063293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A9855B-B6CE-8D6D-D192-2E16FD75524C}"/>
              </a:ext>
            </a:extLst>
          </p:cNvPr>
          <p:cNvPicPr>
            <a:picLocks noChangeAspect="1"/>
          </p:cNvPicPr>
          <p:nvPr/>
        </p:nvPicPr>
        <p:blipFill>
          <a:blip r:embed="rId2"/>
          <a:stretch>
            <a:fillRect/>
          </a:stretch>
        </p:blipFill>
        <p:spPr>
          <a:xfrm>
            <a:off x="0" y="513803"/>
            <a:ext cx="12192000" cy="5830393"/>
          </a:xfrm>
          <a:prstGeom prst="rect">
            <a:avLst/>
          </a:prstGeom>
        </p:spPr>
      </p:pic>
    </p:spTree>
    <p:extLst>
      <p:ext uri="{BB962C8B-B14F-4D97-AF65-F5344CB8AC3E}">
        <p14:creationId xmlns:p14="http://schemas.microsoft.com/office/powerpoint/2010/main" val="3523257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6E48E-D01B-B8D4-5459-1F57D9C84F03}"/>
              </a:ext>
            </a:extLst>
          </p:cNvPr>
          <p:cNvSpPr>
            <a:spLocks noGrp="1"/>
          </p:cNvSpPr>
          <p:nvPr>
            <p:ph type="title"/>
          </p:nvPr>
        </p:nvSpPr>
        <p:spPr/>
        <p:txBody>
          <a:bodyPr/>
          <a:lstStyle/>
          <a:p>
            <a:r>
              <a:rPr lang="en-US" dirty="0"/>
              <a:t>GitHub Link + Live Demo:-</a:t>
            </a:r>
          </a:p>
        </p:txBody>
      </p:sp>
      <p:sp>
        <p:nvSpPr>
          <p:cNvPr id="3" name="Text Placeholder 2">
            <a:extLst>
              <a:ext uri="{FF2B5EF4-FFF2-40B4-BE49-F238E27FC236}">
                <a16:creationId xmlns:a16="http://schemas.microsoft.com/office/drawing/2014/main" id="{D918B3DE-639D-4E7E-D0FA-9467AA1DBE88}"/>
              </a:ext>
            </a:extLst>
          </p:cNvPr>
          <p:cNvSpPr>
            <a:spLocks noGrp="1"/>
          </p:cNvSpPr>
          <p:nvPr>
            <p:ph type="body" idx="1"/>
          </p:nvPr>
        </p:nvSpPr>
        <p:spPr/>
        <p:txBody>
          <a:bodyPr>
            <a:normAutofit lnSpcReduction="10000"/>
          </a:bodyPr>
          <a:lstStyle/>
          <a:p>
            <a:endParaRPr lang="en-US" dirty="0"/>
          </a:p>
          <a:p>
            <a:pPr algn="ctr"/>
            <a:r>
              <a:rPr lang="en-US" b="1" dirty="0"/>
              <a:t>GitHub Link</a:t>
            </a:r>
          </a:p>
          <a:p>
            <a:pPr algn="ctr"/>
            <a:r>
              <a:rPr lang="en-US" dirty="0"/>
              <a:t> </a:t>
            </a:r>
            <a:r>
              <a:rPr lang="en-US" dirty="0">
                <a:hlinkClick r:id="rId2"/>
              </a:rPr>
              <a:t>https://github.com/KevinTailor102/Fit-Verse.git</a:t>
            </a:r>
            <a:endParaRPr lang="en-US" dirty="0"/>
          </a:p>
          <a:p>
            <a:endParaRPr lang="en-US" dirty="0"/>
          </a:p>
          <a:p>
            <a:pPr marL="114300" indent="0">
              <a:buNone/>
            </a:pPr>
            <a:endParaRPr lang="en-US" dirty="0"/>
          </a:p>
          <a:p>
            <a:pPr algn="ctr"/>
            <a:r>
              <a:rPr lang="en-US" b="1" dirty="0"/>
              <a:t>Live Server</a:t>
            </a:r>
          </a:p>
          <a:p>
            <a:pPr algn="ctr"/>
            <a:r>
              <a:rPr lang="en-US" dirty="0">
                <a:hlinkClick r:id="rId3"/>
              </a:rPr>
              <a:t>https://fit-verse.onrender.com</a:t>
            </a:r>
            <a:endParaRPr lang="en-US" dirty="0"/>
          </a:p>
          <a:p>
            <a:pPr marL="114300" indent="0" algn="ctr">
              <a:buNone/>
            </a:pPr>
            <a:br>
              <a:rPr lang="en-US" dirty="0"/>
            </a:br>
            <a:endParaRPr lang="en-US" dirty="0"/>
          </a:p>
        </p:txBody>
      </p:sp>
    </p:spTree>
    <p:extLst>
      <p:ext uri="{BB962C8B-B14F-4D97-AF65-F5344CB8AC3E}">
        <p14:creationId xmlns:p14="http://schemas.microsoft.com/office/powerpoint/2010/main" val="2423545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2" name="Google Shape;172;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US" sz="2000" b="1" dirty="0"/>
          </a:p>
          <a:p>
            <a:pPr marL="342900" indent="-342900">
              <a:buAutoNum type="arabicPeriod"/>
            </a:pPr>
            <a:r>
              <a:rPr lang="en-US" sz="1800" b="1" dirty="0"/>
              <a:t>Integration with Wearables &amp; Smart Health Devices</a:t>
            </a:r>
          </a:p>
          <a:p>
            <a:r>
              <a:rPr lang="en-US" sz="2000" b="1" dirty="0"/>
              <a:t>	</a:t>
            </a:r>
          </a:p>
          <a:p>
            <a:pPr marL="285750" lvl="2" indent="-285750" algn="just">
              <a:buFont typeface="Arial" panose="020B0604020202020204" pitchFamily="34" charset="0"/>
              <a:buChar char="•"/>
            </a:pPr>
            <a:r>
              <a:rPr lang="en-US" sz="1800" dirty="0" err="1"/>
              <a:t>FitVerse</a:t>
            </a:r>
            <a:r>
              <a:rPr lang="en-US" sz="1800" dirty="0"/>
              <a:t> can be integrated with smartwatches and fitness trackers (such as Fitbit, Apple Watch, or Google Fit) to collect real-time data including heart rate, step count, calories burned, sleep patterns, and physical activity. This will enable the AI to generate more accurate workout plans, nutrition recommendations, and wellness insights based on live health data.</a:t>
            </a:r>
          </a:p>
          <a:p>
            <a:endParaRPr lang="en-US" sz="2000" dirty="0"/>
          </a:p>
          <a:p>
            <a:r>
              <a:rPr lang="en-US" sz="1800" b="1" dirty="0"/>
              <a:t>2. AI Voice Coach &amp; Multilingual Support</a:t>
            </a:r>
          </a:p>
          <a:p>
            <a:endParaRPr lang="en-US" sz="1800" b="1" dirty="0"/>
          </a:p>
          <a:p>
            <a:pPr marL="285750" lvl="1" indent="-285750">
              <a:buFont typeface="Arial" panose="020B0604020202020204" pitchFamily="34" charset="0"/>
              <a:buChar char="•"/>
            </a:pPr>
            <a:r>
              <a:rPr lang="en-US" sz="1800" dirty="0"/>
              <a:t>Future versions can include a voice-enabled AI fitness coach with multilingual support, allowing users to interact naturally through voice commands in their preferred language. This will improve accessibility, enhance user engagement, and make </a:t>
            </a:r>
            <a:r>
              <a:rPr lang="en-US" sz="1800" dirty="0" err="1"/>
              <a:t>FitVerse</a:t>
            </a:r>
            <a:r>
              <a:rPr lang="en-US" sz="1800" dirty="0"/>
              <a:t> more inclusive for users from diverse linguistic and cultural backgrounds.</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lang="en-US" sz="1850" b="0" i="0" u="none" strike="noStrike" cap="none" dirty="0">
              <a:solidFill>
                <a:srgbClr val="000000"/>
              </a:solidFill>
              <a:latin typeface="Times New Roman"/>
              <a:ea typeface="Times New Roman"/>
              <a:cs typeface="Times New Roman"/>
              <a:sym typeface="Times New Roman"/>
            </a:endParaRPr>
          </a:p>
        </p:txBody>
      </p:sp>
      <p:sp>
        <p:nvSpPr>
          <p:cNvPr id="173" name="Google Shape;173;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Certificates Earned: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dirty="0" err="1"/>
              <a:t>C</a:t>
            </a:r>
            <a:r>
              <a:rPr lang="en-US" sz="2800" b="1" i="0" u="none" strike="noStrike" cap="none" dirty="0" err="1">
                <a:solidFill>
                  <a:srgbClr val="000000"/>
                </a:solidFill>
                <a:latin typeface="Arial"/>
                <a:ea typeface="Arial"/>
                <a:cs typeface="Arial"/>
                <a:sym typeface="Arial"/>
              </a:rPr>
              <a:t>redly</a:t>
            </a:r>
            <a:r>
              <a:rPr lang="en-US" sz="2800" b="1" i="0" u="none" strike="noStrike" cap="none" dirty="0">
                <a:solidFill>
                  <a:srgbClr val="000000"/>
                </a:solidFill>
                <a:latin typeface="Arial"/>
                <a:ea typeface="Arial"/>
                <a:cs typeface="Arial"/>
                <a:sym typeface="Arial"/>
              </a:rPr>
              <a:t> certificate:- </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1DCFA54-23D4-A29B-13B4-F1DE03AADD9E}"/>
              </a:ext>
            </a:extLst>
          </p:cNvPr>
          <p:cNvPicPr>
            <a:picLocks noChangeAspect="1"/>
          </p:cNvPicPr>
          <p:nvPr/>
        </p:nvPicPr>
        <p:blipFill>
          <a:blip r:embed="rId3"/>
          <a:stretch>
            <a:fillRect/>
          </a:stretch>
        </p:blipFill>
        <p:spPr>
          <a:xfrm>
            <a:off x="2246274" y="1367169"/>
            <a:ext cx="8207451" cy="538591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8" name="Google Shape;188;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Arial"/>
                <a:ea typeface="Arial"/>
                <a:cs typeface="Arial"/>
                <a:sym typeface="Arial"/>
              </a:rPr>
              <a:t>IBM BOB Certificate:-</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14AA5A8-2FAA-515A-12AA-0E1218D171F1}"/>
              </a:ext>
            </a:extLst>
          </p:cNvPr>
          <p:cNvPicPr>
            <a:picLocks noChangeAspect="1"/>
          </p:cNvPicPr>
          <p:nvPr/>
        </p:nvPicPr>
        <p:blipFill>
          <a:blip r:embed="rId3"/>
          <a:stretch>
            <a:fillRect/>
          </a:stretch>
        </p:blipFill>
        <p:spPr>
          <a:xfrm>
            <a:off x="1605280" y="1361440"/>
            <a:ext cx="9444149" cy="51234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1207</Words>
  <Application>Microsoft Office PowerPoint</Application>
  <PresentationFormat>Widescreen</PresentationFormat>
  <Paragraphs>103</Paragraphs>
  <Slides>19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 + Live Demo:-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kevin tailor</cp:lastModifiedBy>
  <cp:revision>3</cp:revision>
  <cp:lastPrinted>2026-07-07T10:14:56Z</cp:lastPrinted>
  <dcterms:created xsi:type="dcterms:W3CDTF">2025-07-08T05:06:56Z</dcterms:created>
  <dcterms:modified xsi:type="dcterms:W3CDTF">2026-07-07T10:16:33Z</dcterms:modified>
</cp:coreProperties>
</file>